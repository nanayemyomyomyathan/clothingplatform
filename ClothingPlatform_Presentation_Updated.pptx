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CD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37160" cy="6711696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0972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1" i="0">
                <a:solidFill>
                  <a:srgbClr val="C9A96E"/>
                </a:solidFill>
                <a:latin typeface="Calibri"/>
              </a:defRPr>
            </a:pPr>
            <a:r>
              <a:t>CHIC BOUTIQUE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64592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 i="0">
                <a:solidFill>
                  <a:srgbClr val="8B1A1A"/>
                </a:solidFill>
                <a:latin typeface="Calibri"/>
              </a:defRPr>
            </a:pPr>
            <a:r>
              <a:t>Online Clothing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926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1">
                <a:solidFill>
                  <a:srgbClr val="3C1F10"/>
                </a:solidFill>
                <a:latin typeface="Calibri"/>
              </a:defRPr>
            </a:pPr>
            <a:r>
              <a:t>E-Commerce Management System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3840480"/>
            <a:ext cx="2103120" cy="2743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4206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7A5C50"/>
                </a:solidFill>
                <a:latin typeface="Calibri"/>
              </a:defRPr>
            </a:pPr>
            <a:r>
              <a:t>Presented by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475488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400">
                <a:solidFill>
                  <a:srgbClr val="3C1F10"/>
                </a:solidFill>
                <a:latin typeface="Calibri"/>
              </a:defRPr>
            </a:pPr>
            <a:r>
              <a:t>Nang Aye Myo Myo Myat Han    5CS - 7</a:t>
            </a:r>
          </a:p>
          <a:p>
            <a:pPr algn="ctr">
              <a:spcAft>
                <a:spcPts val="600"/>
              </a:spcAft>
              <a:defRPr sz="1400">
                <a:solidFill>
                  <a:srgbClr val="3C1F10"/>
                </a:solidFill>
                <a:latin typeface="Calibri"/>
              </a:defRPr>
            </a:pPr>
            <a:r>
              <a:t>Ma Thin Nandar Soe                      5CS - 53</a:t>
            </a:r>
          </a:p>
          <a:p>
            <a:pPr algn="ctr">
              <a:spcAft>
                <a:spcPts val="600"/>
              </a:spcAft>
              <a:defRPr sz="1400">
                <a:solidFill>
                  <a:srgbClr val="3C1F10"/>
                </a:solidFill>
                <a:latin typeface="Calibri"/>
              </a:defRPr>
            </a:pPr>
            <a:r>
              <a:t>Ma Yu Yu Maw                                 5CS - 49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CD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8B1A1A"/>
                </a:solidFill>
                <a:latin typeface="Calibri"/>
              </a:defRPr>
            </a:pPr>
            <a:r>
              <a:t>Group Members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0" y="1280160"/>
            <a:ext cx="1554480" cy="2743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249527" y="2011680"/>
            <a:ext cx="292608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255367" y="2377440"/>
            <a:ext cx="914400" cy="914400"/>
          </a:xfrm>
          <a:prstGeom prst="ellipse">
            <a:avLst/>
          </a:prstGeom>
          <a:solidFill>
            <a:srgbClr val="F5E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55367" y="256032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 i="0">
                <a:solidFill>
                  <a:srgbClr val="3C1F10"/>
                </a:solidFill>
                <a:latin typeface="Calibri"/>
              </a:defRPr>
            </a:pPr>
            <a:r>
              <a:t>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32407" y="356616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3C1F10"/>
                </a:solidFill>
                <a:latin typeface="Calibri"/>
              </a:defRPr>
            </a:pPr>
            <a:r>
              <a:t>Nang Aye Myo Myo</a:t>
            </a:r>
            <a:br/>
            <a:r>
              <a:t>Myat Han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32407" y="42976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7A5C50"/>
                </a:solidFill>
                <a:latin typeface="Calibri"/>
              </a:defRPr>
            </a:pPr>
            <a:r>
              <a:t>(5CS - 7)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89607" y="4846320"/>
            <a:ext cx="1645920" cy="365760"/>
          </a:xfrm>
          <a:prstGeom prst="round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Full Stack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32807" y="2011680"/>
            <a:ext cx="292608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638647" y="2377440"/>
            <a:ext cx="914400" cy="914400"/>
          </a:xfrm>
          <a:prstGeom prst="ellipse">
            <a:avLst/>
          </a:prstGeom>
          <a:solidFill>
            <a:srgbClr val="F5E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38647" y="256032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 i="0">
                <a:solidFill>
                  <a:srgbClr val="3C1F10"/>
                </a:solidFill>
                <a:latin typeface="Calibri"/>
              </a:defRPr>
            </a:pPr>
            <a:r>
              <a:t>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15687" y="356616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3C1F10"/>
                </a:solidFill>
                <a:latin typeface="Calibri"/>
              </a:defRPr>
            </a:pPr>
            <a:r>
              <a:t>Ma Thin Nandar Soe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15687" y="42976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7A5C50"/>
                </a:solidFill>
                <a:latin typeface="Calibri"/>
              </a:defRPr>
            </a:pPr>
            <a:r>
              <a:t>(5CS - 53)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72887" y="4846320"/>
            <a:ext cx="1645920" cy="365760"/>
          </a:xfrm>
          <a:prstGeom prst="round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Full Stack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6087" y="2011680"/>
            <a:ext cx="292608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021927" y="2377440"/>
            <a:ext cx="914400" cy="914400"/>
          </a:xfrm>
          <a:prstGeom prst="ellipse">
            <a:avLst/>
          </a:prstGeom>
          <a:solidFill>
            <a:srgbClr val="F5E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21927" y="256032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 i="0">
                <a:solidFill>
                  <a:srgbClr val="3C1F10"/>
                </a:solidFill>
                <a:latin typeface="Calibri"/>
              </a:defRPr>
            </a:pPr>
            <a:r>
              <a:t>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8967" y="356616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3C1F10"/>
                </a:solidFill>
                <a:latin typeface="Calibri"/>
              </a:defRPr>
            </a:pPr>
            <a:r>
              <a:t>Ma Yu Yu Maw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98967" y="42976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7A5C50"/>
                </a:solidFill>
                <a:latin typeface="Calibri"/>
              </a:defRPr>
            </a:pPr>
            <a:r>
              <a:t>(5CS - 49)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56167" y="4846320"/>
            <a:ext cx="1645920" cy="365760"/>
          </a:xfrm>
          <a:prstGeom prst="round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Full Stack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CD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8B1A1A"/>
                </a:solidFill>
                <a:latin typeface="Calibri"/>
              </a:defRPr>
            </a:pPr>
            <a:r>
              <a:t>Contents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0" y="1097280"/>
            <a:ext cx="1554480" cy="2743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5544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8B1A1A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1554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3C1F10"/>
                </a:solidFill>
                <a:latin typeface="Calibri"/>
              </a:defRPr>
            </a:pPr>
            <a:r>
              <a:t>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1488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8B1A1A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21488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3C1F10"/>
                </a:solidFill>
                <a:latin typeface="Calibri"/>
              </a:defRPr>
            </a:pPr>
            <a:r>
              <a:t>Abstract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7432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8B1A1A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2743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3C1F10"/>
                </a:solidFill>
                <a:latin typeface="Calibri"/>
              </a:defRPr>
            </a:pPr>
            <a:r>
              <a:t>Objectives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3375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8B1A1A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33375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3C1F10"/>
                </a:solidFill>
                <a:latin typeface="Calibri"/>
              </a:defRPr>
            </a:pPr>
            <a:r>
              <a:t>Software Requirements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9319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8B1A1A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3931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3C1F10"/>
                </a:solidFill>
                <a:latin typeface="Calibri"/>
              </a:defRPr>
            </a:pPr>
            <a:r>
              <a:t>Hardware Requirements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5262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8B1A1A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4526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3C1F10"/>
                </a:solidFill>
                <a:latin typeface="Calibri"/>
              </a:defRPr>
            </a:pPr>
            <a:r>
              <a:t>Functional Requirements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51206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8B1A1A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51206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3C1F10"/>
                </a:solidFill>
                <a:latin typeface="Calibri"/>
              </a:defRPr>
            </a:pPr>
            <a:r>
              <a:t>Non-functional Requirements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15544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8B1A1A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1554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3C1F10"/>
                </a:solidFill>
                <a:latin typeface="Calibri"/>
              </a:defRPr>
            </a:pPr>
            <a:r>
              <a:t>Use Case Diagram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21488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8B1A1A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21488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3C1F10"/>
                </a:solidFill>
                <a:latin typeface="Calibri"/>
              </a:defRPr>
            </a:pPr>
            <a:r>
              <a:t>System Flow Diagrams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27432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8B1A1A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2743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3C1F10"/>
                </a:solidFill>
                <a:latin typeface="Calibri"/>
              </a:defRPr>
            </a:pPr>
            <a:r>
              <a:t>ER Diagram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33375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8B1A1A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0" y="33375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3C1F10"/>
                </a:solidFill>
                <a:latin typeface="Calibri"/>
              </a:defRPr>
            </a:pPr>
            <a:r>
              <a:t>Implementation Frame (UI Design)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39319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8B1A1A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3931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3C1F10"/>
                </a:solidFill>
                <a:latin typeface="Calibri"/>
              </a:defRPr>
            </a:pPr>
            <a:r>
              <a:t>Future Plans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45262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8B1A1A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9520" y="4526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3C1F10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51206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8B1A1A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0" y="51206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3C1F10"/>
                </a:solidFill>
                <a:latin typeface="Calibri"/>
              </a:defRPr>
            </a:pPr>
            <a:r>
              <a:t>References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CD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8B1A1A"/>
                </a:solidFill>
                <a:latin typeface="Calibri"/>
              </a:defRPr>
            </a:pPr>
            <a:r>
              <a:t>Introduction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0" y="1188720"/>
            <a:ext cx="1554480" cy="2743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9418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3C1F10"/>
                </a:solidFill>
                <a:latin typeface="Calibri"/>
              </a:defRPr>
            </a:pPr>
            <a:r>
              <a:t>• Fashion Industry: Rapidly growing e-commerce sector with high demand for online shopping solutions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3C1F10"/>
                </a:solidFill>
                <a:latin typeface="Calibri"/>
              </a:defRPr>
            </a:pPr>
            <a:r>
              <a:t>• Clothing Business Operations: Product management, inventory tracking, order processing, payment handling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3C1F10"/>
                </a:solidFill>
                <a:latin typeface="Calibri"/>
              </a:defRPr>
            </a:pPr>
            <a:r>
              <a:t>• Traditional Methods: Manual stock tracking, phone-based orders, paper receipts, spreadsheet-based management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3C1F10"/>
                </a:solidFill>
                <a:latin typeface="Calibri"/>
              </a:defRPr>
            </a:pPr>
            <a:r>
              <a:t>• Problems Faced: Stock miscounts, lost orders, payment tracking errors, poor customer experience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3C1F10"/>
                </a:solidFill>
                <a:latin typeface="Calibri"/>
              </a:defRPr>
            </a:pPr>
            <a:r>
              <a:t>• Need for Solution: A centralized platform for seamless online clothing retail operations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3C1F10"/>
                </a:solidFill>
                <a:latin typeface="Calibri"/>
              </a:defRPr>
            </a:pPr>
            <a:r>
              <a:t>• What is This Platform?: A full-stack e-commerce system connecting customers, staff, and administrators in one unified platform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CD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8B1A1A"/>
                </a:solidFill>
                <a:latin typeface="Calibri"/>
              </a:defRPr>
            </a:pPr>
            <a:r>
              <a:t>Abstract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0" y="1188720"/>
            <a:ext cx="1554480" cy="2743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55448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8B1A1A"/>
                </a:solidFill>
                <a:latin typeface="Calibri"/>
              </a:rPr>
              <a:t>Project Purpose: </a:t>
            </a:r>
            <a:r>
              <a:rPr sz="1300">
                <a:solidFill>
                  <a:srgbClr val="3C1F10"/>
                </a:solidFill>
                <a:latin typeface="Calibri"/>
              </a:rPr>
              <a:t>To develop a full-stack e-commerce platform for efficient management of an online clothing retail business.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24028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8B1A1A"/>
                </a:solidFill>
                <a:latin typeface="Calibri"/>
              </a:rPr>
              <a:t>Problem Statement: </a:t>
            </a:r>
            <a:r>
              <a:rPr sz="1300">
                <a:solidFill>
                  <a:srgbClr val="3C1F10"/>
                </a:solidFill>
                <a:latin typeface="Calibri"/>
              </a:rPr>
              <a:t>Manual clothing retail operations cause inventory errors, lost orders, inconsistent pricing, and poor customer experience.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92608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8B1A1A"/>
                </a:solidFill>
                <a:latin typeface="Calibri"/>
              </a:rPr>
              <a:t>Proposed Solution: </a:t>
            </a:r>
            <a:r>
              <a:rPr sz="1300">
                <a:solidFill>
                  <a:srgbClr val="3C1F10"/>
                </a:solidFill>
                <a:latin typeface="Calibri"/>
              </a:rPr>
              <a:t>A centralized Clothing Platform with customer storefront, staff order management, admin dashboard, role-based access, and real-time notifications.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61188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8B1A1A"/>
                </a:solidFill>
                <a:latin typeface="Calibri"/>
              </a:rPr>
              <a:t>Key Features: </a:t>
            </a:r>
            <a:r>
              <a:rPr sz="1300">
                <a:solidFill>
                  <a:srgbClr val="3C1F10"/>
                </a:solidFill>
                <a:latin typeface="Calibri"/>
              </a:rPr>
              <a:t>Product catalog with variants, shopping cart, order processing, phone/guest orders, promotions &amp; coupons, payment slip verification, loyalty program, staff activity logging.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29768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8B1A1A"/>
                </a:solidFill>
                <a:latin typeface="Calibri"/>
              </a:rPr>
              <a:t>Expected Outcomes: </a:t>
            </a:r>
            <a:r>
              <a:rPr sz="1300">
                <a:solidFill>
                  <a:srgbClr val="3C1F10"/>
                </a:solidFill>
                <a:latin typeface="Calibri"/>
              </a:rPr>
              <a:t>Reduced operational errors, streamlined order fulfillment, improved customer experience, data-driven business decisions.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98348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8B1A1A"/>
                </a:solidFill>
                <a:latin typeface="Calibri"/>
              </a:rPr>
              <a:t>Technologies Used: </a:t>
            </a:r>
            <a:r>
              <a:rPr sz="1300">
                <a:solidFill>
                  <a:srgbClr val="3C1F10"/>
                </a:solidFill>
                <a:latin typeface="Calibri"/>
              </a:rPr>
              <a:t>C#, ASP.NET Core, Blazor Server, Entity Framework Core, PostgreSQL, REST API, SignalR, Docker, Nginx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CD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8B1A1A"/>
                </a:solidFill>
                <a:latin typeface="Calibri"/>
              </a:defRPr>
            </a:pPr>
            <a:r>
              <a:t>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0" y="1188720"/>
            <a:ext cx="1554480" cy="2743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71600" y="1645920"/>
            <a:ext cx="457200" cy="457200"/>
          </a:xfrm>
          <a:prstGeom prst="ellipse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600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3C1F10"/>
                </a:solidFill>
                <a:latin typeface="Calibri"/>
              </a:defRPr>
            </a:pPr>
            <a:r>
              <a:t>Centralize E-Commerce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9202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7A5C50"/>
                </a:solidFill>
                <a:latin typeface="Calibri"/>
              </a:defRPr>
            </a:pPr>
            <a:r>
              <a:t>Unify product, order, and customer management into one platform</a:t>
            </a:r>
          </a:p>
        </p:txBody>
      </p:sp>
      <p:sp>
        <p:nvSpPr>
          <p:cNvPr id="8" name="Oval 7"/>
          <p:cNvSpPr/>
          <p:nvPr/>
        </p:nvSpPr>
        <p:spPr>
          <a:xfrm>
            <a:off x="1371600" y="2423160"/>
            <a:ext cx="457200" cy="457200"/>
          </a:xfrm>
          <a:prstGeom prst="ellipse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377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3C1F10"/>
                </a:solidFill>
                <a:latin typeface="Calibri"/>
              </a:defRPr>
            </a:pPr>
            <a:r>
              <a:t>Streamline Order Processing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2697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7A5C50"/>
                </a:solidFill>
                <a:latin typeface="Calibri"/>
              </a:defRPr>
            </a:pPr>
            <a:r>
              <a:t>Automate order workflows from placement to fulfillment</a:t>
            </a:r>
          </a:p>
        </p:txBody>
      </p:sp>
      <p:sp>
        <p:nvSpPr>
          <p:cNvPr id="11" name="Oval 10"/>
          <p:cNvSpPr/>
          <p:nvPr/>
        </p:nvSpPr>
        <p:spPr>
          <a:xfrm>
            <a:off x="1371600" y="3200400"/>
            <a:ext cx="457200" cy="457200"/>
          </a:xfrm>
          <a:prstGeom prst="ellipse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3154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3C1F10"/>
                </a:solidFill>
                <a:latin typeface="Calibri"/>
              </a:defRPr>
            </a:pPr>
            <a:r>
              <a:t>Ensure Data Consistency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34747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7A5C50"/>
                </a:solidFill>
                <a:latin typeface="Calibri"/>
              </a:defRPr>
            </a:pPr>
            <a:r>
              <a:t>Maintain accurate stock levels and order records in real-time</a:t>
            </a:r>
          </a:p>
        </p:txBody>
      </p:sp>
      <p:sp>
        <p:nvSpPr>
          <p:cNvPr id="14" name="Oval 13"/>
          <p:cNvSpPr/>
          <p:nvPr/>
        </p:nvSpPr>
        <p:spPr>
          <a:xfrm>
            <a:off x="1371600" y="3977639"/>
            <a:ext cx="457200" cy="457200"/>
          </a:xfrm>
          <a:prstGeom prst="ellipse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393191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3C1F10"/>
                </a:solidFill>
                <a:latin typeface="Calibri"/>
              </a:defRPr>
            </a:pPr>
            <a:r>
              <a:t>Reduce Human Errors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4251959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7A5C50"/>
                </a:solidFill>
                <a:latin typeface="Calibri"/>
              </a:defRPr>
            </a:pPr>
            <a:r>
              <a:t>Automate calculations, stock updates, and status transitions</a:t>
            </a:r>
          </a:p>
        </p:txBody>
      </p:sp>
      <p:sp>
        <p:nvSpPr>
          <p:cNvPr id="17" name="Oval 16"/>
          <p:cNvSpPr/>
          <p:nvPr/>
        </p:nvSpPr>
        <p:spPr>
          <a:xfrm>
            <a:off x="1371600" y="4754880"/>
            <a:ext cx="457200" cy="457200"/>
          </a:xfrm>
          <a:prstGeom prst="ellipse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4709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3C1F10"/>
                </a:solidFill>
                <a:latin typeface="Calibri"/>
              </a:defRPr>
            </a:pPr>
            <a:r>
              <a:t>Enhance Customer Experience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50292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7A5C50"/>
                </a:solidFill>
                <a:latin typeface="Calibri"/>
              </a:defRPr>
            </a:pPr>
            <a:r>
              <a:t>Provide intuitive shopping, real-time notifications, and loyalty rewards</a:t>
            </a:r>
          </a:p>
        </p:txBody>
      </p:sp>
      <p:sp>
        <p:nvSpPr>
          <p:cNvPr id="20" name="Oval 19"/>
          <p:cNvSpPr/>
          <p:nvPr/>
        </p:nvSpPr>
        <p:spPr>
          <a:xfrm>
            <a:off x="1371600" y="5532120"/>
            <a:ext cx="457200" cy="457200"/>
          </a:xfrm>
          <a:prstGeom prst="ellipse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5486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3C1F10"/>
                </a:solidFill>
                <a:latin typeface="Calibri"/>
              </a:defRPr>
            </a:pPr>
            <a:r>
              <a:t>Enable Multi-Role Access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58064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7A5C50"/>
                </a:solidFill>
                <a:latin typeface="Calibri"/>
              </a:defRPr>
            </a:pPr>
            <a:r>
              <a:t>Support distinct admin, staff, and customer interfaces with role-based permissions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CD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8B1A1A"/>
                </a:solidFill>
                <a:latin typeface="Calibri"/>
              </a:defRPr>
            </a:pPr>
            <a:r>
              <a:t>Software Requirements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0" y="1188720"/>
            <a:ext cx="2651760" cy="2743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554480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8B1A1A"/>
                </a:solidFill>
                <a:latin typeface="Calibri"/>
              </a:rPr>
              <a:t>IDE: </a:t>
            </a:r>
            <a:r>
              <a:rPr sz="1400">
                <a:solidFill>
                  <a:srgbClr val="3C1F10"/>
                </a:solidFill>
                <a:latin typeface="Calibri"/>
              </a:rPr>
              <a:t>Visual Studio 2022 / VS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029967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8B1A1A"/>
                </a:solidFill>
                <a:latin typeface="Calibri"/>
              </a:rPr>
              <a:t>Back-End Framework: </a:t>
            </a:r>
            <a:r>
              <a:rPr sz="1400">
                <a:solidFill>
                  <a:srgbClr val="3C1F10"/>
                </a:solidFill>
                <a:latin typeface="Calibri"/>
              </a:rPr>
              <a:t>ASP.NET Core 9.0, C#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505456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8B1A1A"/>
                </a:solidFill>
                <a:latin typeface="Calibri"/>
              </a:rPr>
              <a:t>Front-End Framework: </a:t>
            </a:r>
            <a:r>
              <a:rPr sz="1400">
                <a:solidFill>
                  <a:srgbClr val="3C1F10"/>
                </a:solidFill>
                <a:latin typeface="Calibri"/>
              </a:rPr>
              <a:t>Blazor Server (Razor Components)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980944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8B1A1A"/>
                </a:solidFill>
                <a:latin typeface="Calibri"/>
              </a:rPr>
              <a:t>ORM: </a:t>
            </a:r>
            <a:r>
              <a:rPr sz="1400">
                <a:solidFill>
                  <a:srgbClr val="3C1F10"/>
                </a:solidFill>
                <a:latin typeface="Calibri"/>
              </a:rPr>
              <a:t>Entity Framework Core (Database-First)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456432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8B1A1A"/>
                </a:solidFill>
                <a:latin typeface="Calibri"/>
              </a:rPr>
              <a:t>API: </a:t>
            </a:r>
            <a:r>
              <a:rPr sz="1400">
                <a:solidFill>
                  <a:srgbClr val="3C1F10"/>
                </a:solidFill>
                <a:latin typeface="Calibri"/>
              </a:rPr>
              <a:t>ASP.NET Core Web API (RESTful)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931920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8B1A1A"/>
                </a:solidFill>
                <a:latin typeface="Calibri"/>
              </a:rPr>
              <a:t>Real-Time: </a:t>
            </a:r>
            <a:r>
              <a:rPr sz="1400">
                <a:solidFill>
                  <a:srgbClr val="3C1F10"/>
                </a:solidFill>
                <a:latin typeface="Calibri"/>
              </a:rPr>
              <a:t>SignalR (for notifications)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407408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8B1A1A"/>
                </a:solidFill>
                <a:latin typeface="Calibri"/>
              </a:rPr>
              <a:t>Database: </a:t>
            </a:r>
            <a:r>
              <a:rPr sz="1400">
                <a:solidFill>
                  <a:srgbClr val="3C1F10"/>
                </a:solidFill>
                <a:latin typeface="Calibri"/>
              </a:rPr>
              <a:t>PostgreSQL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882896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8B1A1A"/>
                </a:solidFill>
                <a:latin typeface="Calibri"/>
              </a:rPr>
              <a:t>Containerization: </a:t>
            </a:r>
            <a:r>
              <a:rPr sz="1400">
                <a:solidFill>
                  <a:srgbClr val="3C1F10"/>
                </a:solidFill>
                <a:latin typeface="Calibri"/>
              </a:rPr>
              <a:t>Docker &amp; Docker Compose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358384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8B1A1A"/>
                </a:solidFill>
                <a:latin typeface="Calibri"/>
              </a:rPr>
              <a:t>Reverse Proxy: </a:t>
            </a:r>
            <a:r>
              <a:rPr sz="1400">
                <a:solidFill>
                  <a:srgbClr val="3C1F10"/>
                </a:solidFill>
                <a:latin typeface="Calibri"/>
              </a:rPr>
              <a:t>Nginx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833872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8B1A1A"/>
                </a:solidFill>
                <a:latin typeface="Calibri"/>
              </a:rPr>
              <a:t>Web Browser: </a:t>
            </a:r>
            <a:r>
              <a:rPr sz="1400">
                <a:solidFill>
                  <a:srgbClr val="3C1F10"/>
                </a:solidFill>
                <a:latin typeface="Calibri"/>
              </a:rPr>
              <a:t>Any Modern Web Browser (Chrome, Firefox, Edge)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CD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8B1A1A"/>
                </a:solidFill>
                <a:latin typeface="Calibri"/>
              </a:defRPr>
            </a:pPr>
            <a:r>
              <a:t>Hardware Requirements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0" y="1188720"/>
            <a:ext cx="2651760" cy="2743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3C1F10"/>
                </a:solidFill>
                <a:latin typeface="Calibri"/>
              </a:defRPr>
            </a:pPr>
            <a:r>
              <a:t>Hardware Requirements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103120"/>
            <a:ext cx="9418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8B1A1A"/>
                </a:solidFill>
                <a:latin typeface="Calibri"/>
              </a:rPr>
              <a:t>Processor: </a:t>
            </a:r>
            <a:r>
              <a:rPr sz="1400">
                <a:solidFill>
                  <a:srgbClr val="3C1F10"/>
                </a:solidFill>
                <a:latin typeface="Calibri"/>
              </a:rPr>
              <a:t>Intel Core i5 and above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606039"/>
            <a:ext cx="9418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8B1A1A"/>
                </a:solidFill>
                <a:latin typeface="Calibri"/>
              </a:rPr>
              <a:t>RAM: </a:t>
            </a:r>
            <a:r>
              <a:rPr sz="1400">
                <a:solidFill>
                  <a:srgbClr val="3C1F10"/>
                </a:solidFill>
                <a:latin typeface="Calibri"/>
              </a:rPr>
              <a:t>8 GB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108960"/>
            <a:ext cx="9418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8B1A1A"/>
                </a:solidFill>
                <a:latin typeface="Calibri"/>
              </a:rPr>
              <a:t>Hard Disk: </a:t>
            </a:r>
            <a:r>
              <a:rPr sz="1400">
                <a:solidFill>
                  <a:srgbClr val="3C1F10"/>
                </a:solidFill>
                <a:latin typeface="Calibri"/>
              </a:rPr>
              <a:t>500 GB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611880"/>
            <a:ext cx="9418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8B1A1A"/>
                </a:solidFill>
                <a:latin typeface="Calibri"/>
              </a:rPr>
              <a:t>Platform/OS: </a:t>
            </a:r>
            <a:r>
              <a:rPr sz="1400">
                <a:solidFill>
                  <a:srgbClr val="3C1F10"/>
                </a:solidFill>
                <a:latin typeface="Calibri"/>
              </a:rPr>
              <a:t>Windows 10 and above (or Linux, Mac if supported)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389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3C1F10"/>
                </a:solidFill>
                <a:latin typeface="Calibri"/>
              </a:defRPr>
            </a:pPr>
            <a:r>
              <a:t>Network Requirements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937760"/>
            <a:ext cx="9418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8B1A1A"/>
                </a:solidFill>
                <a:latin typeface="Calibri"/>
              </a:rPr>
              <a:t>Internet Connection: </a:t>
            </a:r>
            <a:r>
              <a:rPr sz="1400">
                <a:solidFill>
                  <a:srgbClr val="3C1F10"/>
                </a:solidFill>
                <a:latin typeface="Calibri"/>
              </a:rPr>
              <a:t>Required (for deployment and API communication)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440680"/>
            <a:ext cx="9418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8B1A1A"/>
                </a:solidFill>
                <a:latin typeface="Calibri"/>
              </a:rPr>
              <a:t>LAN/Wi-Fi: </a:t>
            </a:r>
            <a:r>
              <a:rPr sz="1400">
                <a:solidFill>
                  <a:srgbClr val="3C1F10"/>
                </a:solidFill>
                <a:latin typeface="Calibri"/>
              </a:rPr>
              <a:t>Required (for local development and testing)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CD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8B1A1A"/>
                </a:solidFill>
                <a:latin typeface="Calibri"/>
              </a:defRPr>
            </a:pPr>
            <a:r>
              <a:t>Functional Requirements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0" y="1188720"/>
            <a:ext cx="3383280" cy="2743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9418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3C1F10"/>
                </a:solidFill>
                <a:latin typeface="Calibri"/>
              </a:defRPr>
            </a:pPr>
            <a:r>
              <a:t>• In this system, customers can register and log in with valid credentials (email/phone and password).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3C1F10"/>
                </a:solidFill>
                <a:latin typeface="Calibri"/>
              </a:defRPr>
            </a:pPr>
            <a:r>
              <a:t>• Staff and admins can log in through a dedicated staff portal with role-based access control.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3C1F10"/>
                </a:solidFill>
                <a:latin typeface="Calibri"/>
              </a:defRPr>
            </a:pPr>
            <a:r>
              <a:t>• Admins can view all user accounts, manage staff (create, edit, suspend, reactivate, delete).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3C1F10"/>
                </a:solidFill>
                <a:latin typeface="Calibri"/>
              </a:defRPr>
            </a:pPr>
            <a:r>
              <a:t>• The system restricts functionalities based on user roles (admin, staff, customer) with configurable permissions.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3C1F10"/>
                </a:solidFill>
                <a:latin typeface="Calibri"/>
              </a:defRPr>
            </a:pPr>
            <a:r>
              <a:t>• All staff activities are logged for security and auditing purposes.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CD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8B1A1A"/>
                </a:solidFill>
                <a:latin typeface="Calibri"/>
              </a:defRPr>
            </a:pPr>
            <a:r>
              <a:t>Functional Requirements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0" y="1188720"/>
            <a:ext cx="3383280" cy="2743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9418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3C1F10"/>
                </a:solidFill>
                <a:latin typeface="Calibri"/>
              </a:defRPr>
            </a:pPr>
            <a:r>
              <a:t>• Admins can add new products with details (name, category, description, price, images, variants with size/color/stock).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3C1F10"/>
                </a:solidFill>
                <a:latin typeface="Calibri"/>
              </a:defRPr>
            </a:pPr>
            <a:r>
              <a:t>• They can manage products (update details, add/edit variants, upload images, set primary images, or delete products).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3C1F10"/>
                </a:solidFill>
                <a:latin typeface="Calibri"/>
              </a:defRPr>
            </a:pPr>
            <a:r>
              <a:t>• Admins and staff can search products by name, category, or availability.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3C1F10"/>
                </a:solidFill>
                <a:latin typeface="Calibri"/>
              </a:defRPr>
            </a:pPr>
            <a:r>
              <a:t>• Customers can browse products by category, view best sellers, new creations, and full collection with pagination.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3C1F10"/>
                </a:solidFill>
                <a:latin typeface="Calibri"/>
              </a:defRPr>
            </a:pPr>
            <a:r>
              <a:t>• Customers can add items to their shopping cart after selecting size and color variants.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3C1F10"/>
                </a:solidFill>
                <a:latin typeface="Calibri"/>
              </a:defRPr>
            </a:pPr>
            <a:r>
              <a:t>• The cart enforces stock limits and allows quantity adjustments.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CD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8B1A1A"/>
                </a:solidFill>
                <a:latin typeface="Calibri"/>
              </a:defRPr>
            </a:pPr>
            <a:r>
              <a:t>Functional Requirements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0" y="1188720"/>
            <a:ext cx="3383280" cy="2743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9418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3C1F10"/>
                </a:solidFill>
                <a:latin typeface="Calibri"/>
              </a:defRPr>
            </a:pPr>
            <a:r>
              <a:t>• Customers can place orders with delivery address, payment method (KPay, Wave Money, COD), and optional payment slip upload.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3C1F10"/>
                </a:solidFill>
                <a:latin typeface="Calibri"/>
              </a:defRPr>
            </a:pPr>
            <a:r>
              <a:t>• Staff can create phone/guest orders on behalf of walk-in or phone customers.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3C1F10"/>
                </a:solidFill>
                <a:latin typeface="Calibri"/>
              </a:defRPr>
            </a:pPr>
            <a:r>
              <a:t>• Order status follows a workflow: Pending → Processing → Confirm, with cancellation support (by customer or staff).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3C1F10"/>
                </a:solidFill>
                <a:latin typeface="Calibri"/>
              </a:defRPr>
            </a:pPr>
            <a:r>
              <a:t>• Admins and staff can search orders by customer name, order ID, or status, and update order fulfillment status.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3C1F10"/>
                </a:solidFill>
                <a:latin typeface="Calibri"/>
              </a:defRPr>
            </a:pPr>
            <a:r>
              <a:t>• Customers can view their order history, track order status, and request cancellations.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3C1F10"/>
                </a:solidFill>
                <a:latin typeface="Calibri"/>
              </a:defRPr>
            </a:pPr>
            <a:r>
              <a:t>• The system supports promotions (banner campaigns) and coupon codes (percentage &amp; fixed discounts).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CD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8B1A1A"/>
                </a:solidFill>
                <a:latin typeface="Calibri"/>
              </a:defRPr>
            </a:pPr>
            <a:r>
              <a:t>Functional Requirements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0" y="1188720"/>
            <a:ext cx="3383280" cy="2743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9418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3C1F10"/>
                </a:solidFill>
                <a:latin typeface="Calibri"/>
              </a:defRPr>
            </a:pPr>
            <a:r>
              <a:t>• Customers receive real-time notifications via SignalR when their order status changes.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3C1F10"/>
                </a:solidFill>
                <a:latin typeface="Calibri"/>
              </a:defRPr>
            </a:pPr>
            <a:r>
              <a:t>• The system provides a loyalty program where customers earn points (1 point per 5,000 MMK spent) with tiered discounts (Silver, Gold, Platinum, Diamond, Ruby VIP).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3C1F10"/>
                </a:solidFill>
                <a:latin typeface="Calibri"/>
              </a:defRPr>
            </a:pPr>
            <a:r>
              <a:t>• Admins can view dashboard KPIs: total revenue, total orders, pending orders, cancelled orders.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3C1F10"/>
                </a:solidFill>
                <a:latin typeface="Calibri"/>
              </a:defRPr>
            </a:pPr>
            <a:r>
              <a:t>• The system generates daily sales reports and category-wise revenue breakdowns.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3C1F10"/>
                </a:solidFill>
                <a:latin typeface="Calibri"/>
              </a:defRPr>
            </a:pPr>
            <a:r>
              <a:t>• Admins can manage promotions and coupon codes with start/end dates and discount configurations.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CD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8B1A1A"/>
                </a:solidFill>
                <a:latin typeface="Calibri"/>
              </a:defRPr>
            </a:pPr>
            <a:r>
              <a:t>Non-functional Requirements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1188720"/>
            <a:ext cx="3931920" cy="2743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371600" y="1645920"/>
            <a:ext cx="941832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1691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8B1A1A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69164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C1F10"/>
                </a:solidFill>
                <a:latin typeface="Calibri"/>
              </a:defRPr>
            </a:pPr>
            <a:r>
              <a:t>Fast page loads and responsive UI with optimized database queries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2331720"/>
            <a:ext cx="941832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23774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8B1A1A"/>
                </a:solidFill>
                <a:latin typeface="Calibri"/>
              </a:defRPr>
            </a:pPr>
            <a:r>
              <a:t>Reliability &amp; Availability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37744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C1F10"/>
                </a:solidFill>
                <a:latin typeface="Calibri"/>
              </a:defRPr>
            </a:pPr>
            <a:r>
              <a:t>Consistent uptime with Docker containerization for easy deployment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3017520"/>
            <a:ext cx="941832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45920" y="3063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8B1A1A"/>
                </a:solidFill>
                <a:latin typeface="Calibri"/>
              </a:defRPr>
            </a:pPr>
            <a:r>
              <a:t>Security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306324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C1F10"/>
                </a:solidFill>
                <a:latin typeface="Calibri"/>
              </a:defRPr>
            </a:pPr>
            <a:r>
              <a:t>Role-based access control, secure authentication, and payment slip validation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71600" y="3703320"/>
            <a:ext cx="941832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45920" y="37490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8B1A1A"/>
                </a:solidFill>
                <a:latin typeface="Calibri"/>
              </a:defRPr>
            </a:pPr>
            <a:r>
              <a:t>Usability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374904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C1F10"/>
                </a:solidFill>
                <a:latin typeface="Calibri"/>
              </a:defRPr>
            </a:pPr>
            <a:r>
              <a:t>Intuitive, modern UI design with responsive layouts for all devices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0" y="4389120"/>
            <a:ext cx="941832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45920" y="44348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8B1A1A"/>
                </a:solidFill>
                <a:latin typeface="Calibri"/>
              </a:defRPr>
            </a:pPr>
            <a:r>
              <a:t>Scalability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443484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C1F10"/>
                </a:solidFill>
                <a:latin typeface="Calibri"/>
              </a:defRPr>
            </a:pPr>
            <a:r>
              <a:t>Modular architecture with separate API and Web layers for independent scaling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71600" y="5074920"/>
            <a:ext cx="941832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45920" y="5120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8B1A1A"/>
                </a:solidFill>
                <a:latin typeface="Calibri"/>
              </a:defRPr>
            </a:pPr>
            <a:r>
              <a:t>Maintainability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512064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C1F10"/>
                </a:solidFill>
                <a:latin typeface="Calibri"/>
              </a:defRPr>
            </a:pPr>
            <a:r>
              <a:t>Clean code structure with feature-based organization and Entity Framework Core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71600" y="5760720"/>
            <a:ext cx="941832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45920" y="58064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8B1A1A"/>
                </a:solidFill>
                <a:latin typeface="Calibri"/>
              </a:defRPr>
            </a:pPr>
            <a:r>
              <a:t>Portability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580644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C1F10"/>
                </a:solidFill>
                <a:latin typeface="Calibri"/>
              </a:defRPr>
            </a:pPr>
            <a:r>
              <a:t>Docker-based deployment supporting Windows, Linux, and cloud environments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CD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 i="0">
                <a:solidFill>
                  <a:srgbClr val="8B1A1A"/>
                </a:solidFill>
                <a:latin typeface="Calibri"/>
              </a:defRPr>
            </a:pPr>
            <a:r>
              <a:t>Use Case Diagram</a:t>
            </a:r>
          </a:p>
        </p:txBody>
      </p:sp>
      <p:pic>
        <p:nvPicPr>
          <p:cNvPr id="4" name="Picture 3" descr="UseCase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65760"/>
            <a:ext cx="11430000" cy="63093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CD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 i="0">
                <a:solidFill>
                  <a:srgbClr val="8B1A1A"/>
                </a:solidFill>
                <a:latin typeface="Calibri"/>
              </a:defRPr>
            </a:pPr>
            <a:r>
              <a:t>System Flow Diagram for 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1">
                <a:solidFill>
                  <a:srgbClr val="7A5C50"/>
                </a:solidFill>
                <a:latin typeface="Calibri"/>
              </a:defRPr>
            </a:pPr>
            <a:r>
              <a:t>(Insert Customer Flow Diagram Here)</a:t>
            </a:r>
          </a:p>
        </p:txBody>
      </p:sp>
      <p:pic>
        <p:nvPicPr>
          <p:cNvPr id="5" name="Picture 4" descr="Customer_System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65760"/>
            <a:ext cx="11430000" cy="63093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CD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 i="0">
                <a:solidFill>
                  <a:srgbClr val="8B1A1A"/>
                </a:solidFill>
                <a:latin typeface="Calibri"/>
              </a:defRPr>
            </a:pPr>
            <a:r>
              <a:t>System Flow Diagram for Staff / 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1">
                <a:solidFill>
                  <a:srgbClr val="7A5C50"/>
                </a:solidFill>
                <a:latin typeface="Calibri"/>
              </a:defRPr>
            </a:pPr>
            <a:r>
              <a:t>(Insert Staff/Admin Flow Diagram Here)</a:t>
            </a:r>
          </a:p>
        </p:txBody>
      </p:sp>
      <p:pic>
        <p:nvPicPr>
          <p:cNvPr id="5" name="Picture 4" descr="Admin_System_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65760"/>
            <a:ext cx="11430000" cy="630936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CD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 i="0">
                <a:solidFill>
                  <a:srgbClr val="8B1A1A"/>
                </a:solidFill>
                <a:latin typeface="Calibri"/>
              </a:defRPr>
            </a:pPr>
            <a:r>
              <a:t>ER Diagram</a:t>
            </a:r>
          </a:p>
        </p:txBody>
      </p:sp>
      <p:pic>
        <p:nvPicPr>
          <p:cNvPr id="4" name="Picture 3" descr="ER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11612880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CD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8B1A1A"/>
                </a:solidFill>
                <a:latin typeface="Calibri"/>
              </a:defRPr>
            </a:pPr>
            <a:r>
              <a:t>Project Implementation Frame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0" y="1188720"/>
            <a:ext cx="4480560" cy="2743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1">
                <a:solidFill>
                  <a:srgbClr val="7A5C50"/>
                </a:solidFill>
                <a:latin typeface="Calibri"/>
              </a:defRPr>
            </a:pPr>
            <a:r>
              <a:t>(Insert UI Screenshots Here)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CD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8B1A1A"/>
                </a:solidFill>
                <a:latin typeface="Calibri"/>
              </a:defRPr>
            </a:pPr>
            <a:r>
              <a:t>Future Plans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1188720"/>
            <a:ext cx="2103120" cy="2743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00887" y="1645920"/>
            <a:ext cx="329184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5207" y="1828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3C1F10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5207" y="2286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8B1A1A"/>
                </a:solidFill>
                <a:latin typeface="Calibri"/>
              </a:defRPr>
            </a:pPr>
            <a:r>
              <a:t>Advanced Reports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5207" y="274320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7A5C50"/>
                </a:solidFill>
                <a:latin typeface="Calibri"/>
              </a:defRPr>
            </a:pPr>
            <a:r>
              <a:t>Generate detailed analytics reports for sales trends, customer behavior, and inventory insights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49927" y="1645920"/>
            <a:ext cx="329184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24247" y="1828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3C1F10"/>
                </a:solidFill>
                <a:latin typeface="Calibri"/>
              </a:defRPr>
            </a:pPr>
            <a:r>
              <a:t>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4247" y="2286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8B1A1A"/>
                </a:solidFill>
                <a:latin typeface="Calibri"/>
              </a:defRPr>
            </a:pPr>
            <a:r>
              <a:t>Mobile 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4247" y="274320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7A5C50"/>
                </a:solidFill>
                <a:latin typeface="Calibri"/>
              </a:defRPr>
            </a:pPr>
            <a:r>
              <a:t>Develop a native mobile application for customers to browse and shop on the go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98967" y="1645920"/>
            <a:ext cx="329184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73287" y="1828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3C1F10"/>
                </a:solidFill>
                <a:latin typeface="Calibri"/>
              </a:defRPr>
            </a:pPr>
            <a:r>
              <a:t>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3287" y="2286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8B1A1A"/>
                </a:solidFill>
                <a:latin typeface="Calibri"/>
              </a:defRPr>
            </a:pPr>
            <a:r>
              <a:t>Payment Gateway Integration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3287" y="274320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7A5C50"/>
                </a:solidFill>
                <a:latin typeface="Calibri"/>
              </a:defRPr>
            </a:pPr>
            <a:r>
              <a:t>Integrate real-time payment gateways (KBZPay, AYAPay) for automated payment verification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0887" y="3931920"/>
            <a:ext cx="329184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5207" y="4114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3C1F10"/>
                </a:solidFill>
                <a:latin typeface="Calibri"/>
              </a:defRPr>
            </a:pPr>
            <a:r>
              <a:t>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5207" y="4572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8B1A1A"/>
                </a:solidFill>
                <a:latin typeface="Calibri"/>
              </a:defRPr>
            </a:pPr>
            <a:r>
              <a:t>Email &amp; SMS Notifications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5207" y="502920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7A5C50"/>
                </a:solidFill>
                <a:latin typeface="Calibri"/>
              </a:defRPr>
            </a:pPr>
            <a:r>
              <a:t>Send automated order confirmations, shipping updates via email and SMS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49927" y="3931920"/>
            <a:ext cx="329184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24247" y="4114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3C1F10"/>
                </a:solidFill>
                <a:latin typeface="Calibri"/>
              </a:defRPr>
            </a:pPr>
            <a:r>
              <a:t>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24247" y="4572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8B1A1A"/>
                </a:solidFill>
                <a:latin typeface="Calibri"/>
              </a:defRPr>
            </a:pPr>
            <a:r>
              <a:t>Multi-Language Support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24247" y="502920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7A5C50"/>
                </a:solidFill>
                <a:latin typeface="Calibri"/>
              </a:defRPr>
            </a:pPr>
            <a:r>
              <a:t>Add Myanmar language support for broader accessibility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98967" y="3931920"/>
            <a:ext cx="329184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73287" y="4114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3C1F10"/>
                </a:solidFill>
                <a:latin typeface="Calibri"/>
              </a:defRPr>
            </a:pPr>
            <a:r>
              <a:t>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73287" y="4572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8B1A1A"/>
                </a:solidFill>
                <a:latin typeface="Calibri"/>
              </a:defRPr>
            </a:pPr>
            <a:r>
              <a:t>Customer Reviews &amp; Ratings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73287" y="502920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7A5C50"/>
                </a:solidFill>
                <a:latin typeface="Calibri"/>
              </a:defRPr>
            </a:pPr>
            <a:r>
              <a:t>Allow customers to review and rate purchased products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CD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8B1A1A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1188720"/>
            <a:ext cx="2103120" cy="2743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8B1A1A"/>
                </a:solidFill>
                <a:latin typeface="Calibri"/>
              </a:rPr>
              <a:t>Platform Benefits: </a:t>
            </a:r>
            <a:r>
              <a:rPr sz="1400">
                <a:solidFill>
                  <a:srgbClr val="3C1F10"/>
                </a:solidFill>
                <a:latin typeface="Calibri"/>
              </a:rPr>
              <a:t>Centralized operations, reduced errors, improved efficiency, and enhanced customer shopping experience.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46888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8B1A1A"/>
                </a:solidFill>
                <a:latin typeface="Calibri"/>
              </a:rPr>
              <a:t>System Impact: </a:t>
            </a:r>
            <a:r>
              <a:rPr sz="1400">
                <a:solidFill>
                  <a:srgbClr val="3C1F10"/>
                </a:solidFill>
                <a:latin typeface="Calibri"/>
              </a:rPr>
              <a:t>Streamlined clothing retail management with role-based workflows and real-time order tracking.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29184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8B1A1A"/>
                </a:solidFill>
                <a:latin typeface="Calibri"/>
              </a:rPr>
              <a:t>Technical Achievement: </a:t>
            </a:r>
            <a:r>
              <a:rPr sz="1400">
                <a:solidFill>
                  <a:srgbClr val="3C1F10"/>
                </a:solidFill>
                <a:latin typeface="Calibri"/>
              </a:rPr>
              <a:t>Full-stack application with Blazor Server, REST API, SignalR notifications, Docker deployment, and PostgreSQL database.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1148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8B1A1A"/>
                </a:solidFill>
                <a:latin typeface="Calibri"/>
              </a:rPr>
              <a:t>Future Potential: </a:t>
            </a:r>
            <a:r>
              <a:rPr sz="1400">
                <a:solidFill>
                  <a:srgbClr val="3C1F10"/>
                </a:solidFill>
                <a:latin typeface="Calibri"/>
              </a:rPr>
              <a:t>Mobile app integration, payment gateway automation, advanced analytics, and multi-language support.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93776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8B1A1A"/>
                </a:solidFill>
                <a:latin typeface="Calibri"/>
              </a:rPr>
              <a:t>Takeaway: </a:t>
            </a:r>
            <a:r>
              <a:rPr sz="1400">
                <a:solidFill>
                  <a:srgbClr val="3C1F10"/>
                </a:solidFill>
                <a:latin typeface="Calibri"/>
              </a:rPr>
              <a:t>A well-designed e-commerce platform transforms manual retail processes into an efficient, automated, and reliable system.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CD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8B1A1A"/>
                </a:solidFill>
                <a:latin typeface="Calibri"/>
              </a:defRPr>
            </a:pPr>
            <a:r>
              <a:t>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1188720"/>
            <a:ext cx="2103120" cy="2743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C1F10"/>
                </a:solidFill>
                <a:latin typeface="Calibri"/>
              </a:defRPr>
            </a:pPr>
            <a:r>
              <a:t>Microsoft ASP.NET Core Documentation</a:t>
            </a:r>
          </a:p>
          <a:p>
            <a:pPr>
              <a:defRPr sz="1100" i="1">
                <a:solidFill>
                  <a:srgbClr val="7A5C50"/>
                </a:solidFill>
                <a:latin typeface="Calibri"/>
              </a:defRPr>
            </a:pPr>
            <a:r>
              <a:t>https://learn.microsoft.com/en-us/aspnet/core/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37744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C1F10"/>
                </a:solidFill>
                <a:latin typeface="Calibri"/>
              </a:defRPr>
            </a:pPr>
            <a:r>
              <a:t>Blazor Server Documentation</a:t>
            </a:r>
          </a:p>
          <a:p>
            <a:pPr>
              <a:defRPr sz="1100" i="1">
                <a:solidFill>
                  <a:srgbClr val="7A5C50"/>
                </a:solidFill>
                <a:latin typeface="Calibri"/>
              </a:defRPr>
            </a:pPr>
            <a:r>
              <a:t>https://learn.microsoft.com/en-us/aspnet/core/blazor/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10896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C1F10"/>
                </a:solidFill>
                <a:latin typeface="Calibri"/>
              </a:defRPr>
            </a:pPr>
            <a:r>
              <a:t>Entity Framework Core Documentation</a:t>
            </a:r>
          </a:p>
          <a:p>
            <a:pPr>
              <a:defRPr sz="1100" i="1">
                <a:solidFill>
                  <a:srgbClr val="7A5C50"/>
                </a:solidFill>
                <a:latin typeface="Calibri"/>
              </a:defRPr>
            </a:pPr>
            <a:r>
              <a:t>https://learn.microsoft.com/en-us/ef/core/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84048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C1F10"/>
                </a:solidFill>
                <a:latin typeface="Calibri"/>
              </a:defRPr>
            </a:pPr>
            <a:r>
              <a:t>PostgreSQL Official Documentation</a:t>
            </a:r>
          </a:p>
          <a:p>
            <a:pPr>
              <a:defRPr sz="1100" i="1">
                <a:solidFill>
                  <a:srgbClr val="7A5C50"/>
                </a:solidFill>
                <a:latin typeface="Calibri"/>
              </a:defRPr>
            </a:pPr>
            <a:r>
              <a:t>https://www.postgresql.org/docs/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57200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C1F10"/>
                </a:solidFill>
                <a:latin typeface="Calibri"/>
              </a:defRPr>
            </a:pPr>
            <a:r>
              <a:t>SignalR Documentation</a:t>
            </a:r>
          </a:p>
          <a:p>
            <a:pPr>
              <a:defRPr sz="1100" i="1">
                <a:solidFill>
                  <a:srgbClr val="7A5C50"/>
                </a:solidFill>
                <a:latin typeface="Calibri"/>
              </a:defRPr>
            </a:pPr>
            <a:r>
              <a:t>https://learn.microsoft.com/en-us/aspnet/core/signalr/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30352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C1F10"/>
                </a:solidFill>
                <a:latin typeface="Calibri"/>
              </a:defRPr>
            </a:pPr>
            <a:r>
              <a:t>Docker Documentation</a:t>
            </a:r>
          </a:p>
          <a:p>
            <a:pPr>
              <a:defRPr sz="1100" i="1">
                <a:solidFill>
                  <a:srgbClr val="7A5C50"/>
                </a:solidFill>
                <a:latin typeface="Calibri"/>
              </a:defRPr>
            </a:pPr>
            <a:r>
              <a:t>https://docs.docker.com/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CD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37160" cy="6711696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 i="0">
                <a:solidFill>
                  <a:srgbClr val="8B1A1A"/>
                </a:solidFill>
                <a:latin typeface="Calibri"/>
              </a:defRPr>
            </a:pPr>
            <a:r>
              <a:t>Thanks!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3657600"/>
            <a:ext cx="2103120" cy="2743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CD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 i="0">
                <a:solidFill>
                  <a:srgbClr val="3C1F10"/>
                </a:solidFill>
                <a:latin typeface="Calibri"/>
              </a:defRPr>
            </a:pPr>
            <a:r>
              <a:t>Do you have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1">
                <a:solidFill>
                  <a:srgbClr val="8B1A1A"/>
                </a:solidFill>
                <a:latin typeface="Calibri"/>
              </a:defRPr>
            </a:pPr>
            <a:r>
              <a:t>any questions or suggestions?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