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4" r:id="rId13"/>
    <p:sldId id="276" r:id="rId14"/>
    <p:sldId id="277" r:id="rId15"/>
    <p:sldId id="265" r:id="rId16"/>
    <p:sldId id="266" r:id="rId17"/>
    <p:sldId id="267" r:id="rId18"/>
    <p:sldId id="26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3" name="Shape 1"/>
          <p:cNvSpPr/>
          <p:nvPr/>
        </p:nvSpPr>
        <p:spPr>
          <a:xfrm>
            <a:off x="10698480" y="484632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4" name="Shape 2"/>
          <p:cNvSpPr/>
          <p:nvPr/>
        </p:nvSpPr>
        <p:spPr>
          <a:xfrm>
            <a:off x="-1097280" y="5212080"/>
            <a:ext cx="2743200" cy="2743200"/>
          </a:xfrm>
          <a:prstGeom prst="ellipse">
            <a:avLst/>
          </a:prstGeom>
          <a:solidFill>
            <a:srgbClr val="263082"/>
          </a:solidFill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EXPERIENCE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2412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ACE Data Systems Ltd.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9601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Nang Aye Myo Myo Myat Han  •  Ma Thin Nandar Soe </a:t>
            </a:r>
            <a:r>
              <a:rPr lang="en-US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•  </a:t>
            </a: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Ma Yu Yu Maw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BA8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May 4, 2026 – July 31, 2026   |   13 Weeks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About the Internship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17320" y="1965960"/>
            <a:ext cx="9966960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</p:spPr>
      </p:sp>
      <p:sp>
        <p:nvSpPr>
          <p:cNvPr id="7" name="Text 5"/>
          <p:cNvSpPr/>
          <p:nvPr/>
        </p:nvSpPr>
        <p:spPr>
          <a:xfrm>
            <a:off x="1737360" y="210312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37360" y="2377440"/>
            <a:ext cx="9326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640080" y="34290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417320" y="3291840"/>
            <a:ext cx="9966960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</p:spPr>
      </p:sp>
      <p:sp>
        <p:nvSpPr>
          <p:cNvPr id="12" name="Text 10"/>
          <p:cNvSpPr/>
          <p:nvPr/>
        </p:nvSpPr>
        <p:spPr>
          <a:xfrm>
            <a:off x="1737360" y="342900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 AREAS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737360" y="3703320"/>
            <a:ext cx="9326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Banking Systems, .NET Backend Development, Blazor Frontend, Payment Gateway Systems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417320" y="4617720"/>
            <a:ext cx="9966960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</p:spPr>
      </p:sp>
      <p:sp>
        <p:nvSpPr>
          <p:cNvPr id="17" name="Text 15"/>
          <p:cNvSpPr/>
          <p:nvPr/>
        </p:nvSpPr>
        <p:spPr>
          <a:xfrm>
            <a:off x="1737360" y="4754880"/>
            <a:ext cx="9326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737360" y="5029200"/>
            <a:ext cx="93268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Ms. May Phu Paiy  •  Ko Sann Linn Htun  •  Ko Pyae Phyo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4" name="Text 2"/>
          <p:cNvSpPr/>
          <p:nvPr/>
        </p:nvSpPr>
        <p:spPr>
          <a:xfrm>
            <a:off x="18288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WEEKS 1 –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548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Banking Foundations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34640" y="1650492"/>
            <a:ext cx="5989320" cy="4613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orientation and technical meetings with senior developers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Studied Core Banking System (CBS): CIF management, account products (Current, Saving, Fixed Deposit)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Cash operations, transfers, CBM NET process, CASA interest flows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Ledger process, loan products, account closure workflows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banking: E-Wallets, Mobile/Electronic Banking, merchant payments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89720" y="1737360"/>
            <a:ext cx="2331720" cy="4206240"/>
          </a:xfrm>
          <a:prstGeom prst="roundRect">
            <a:avLst>
              <a:gd name="adj" fmla="val 4706"/>
            </a:avLst>
          </a:prstGeom>
          <a:solidFill>
            <a:srgbClr val="F4F6FB"/>
          </a:solidFill>
        </p:spPr>
      </p:sp>
      <p:sp>
        <p:nvSpPr>
          <p:cNvPr id="8" name="Shape 6"/>
          <p:cNvSpPr/>
          <p:nvPr/>
        </p:nvSpPr>
        <p:spPr>
          <a:xfrm>
            <a:off x="9761220" y="21945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761220" y="219456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36118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4114800"/>
            <a:ext cx="1417320" cy="0"/>
          </a:xfrm>
          <a:prstGeom prst="line">
            <a:avLst/>
          </a:prstGeom>
          <a:noFill/>
          <a:ln w="12700">
            <a:solidFill>
              <a:srgbClr val="C7C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4297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0" y="461772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Weeks 1 – 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0" y="5440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E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Completed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4" name="Text 2"/>
          <p:cNvSpPr/>
          <p:nvPr/>
        </p:nvSpPr>
        <p:spPr>
          <a:xfrm>
            <a:off x="18288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548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.NET Backend Fundamentals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34640" y="1896923"/>
            <a:ext cx="5989320" cy="43667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a .NET 8 console app for SQL Server connectivity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Practiced CRUD operations using Dapper (Micro-ORM)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Entity Framework Core (Database-First) approach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ADO.NET into ASP.NET Core Web API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89720" y="1737360"/>
            <a:ext cx="2331720" cy="4206240"/>
          </a:xfrm>
          <a:prstGeom prst="roundRect">
            <a:avLst>
              <a:gd name="adj" fmla="val 4706"/>
            </a:avLst>
          </a:prstGeom>
          <a:solidFill>
            <a:srgbClr val="F4F6FB"/>
          </a:solidFill>
        </p:spPr>
      </p:sp>
      <p:sp>
        <p:nvSpPr>
          <p:cNvPr id="8" name="Shape 6"/>
          <p:cNvSpPr/>
          <p:nvPr/>
        </p:nvSpPr>
        <p:spPr>
          <a:xfrm>
            <a:off x="9761220" y="21945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761220" y="219456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36118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4114800"/>
            <a:ext cx="1417320" cy="0"/>
          </a:xfrm>
          <a:prstGeom prst="line">
            <a:avLst/>
          </a:prstGeom>
          <a:noFill/>
          <a:ln w="12700">
            <a:solidFill>
              <a:srgbClr val="C7C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4297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0" y="461772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0" y="5440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E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Completed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4" name="Text 2"/>
          <p:cNvSpPr/>
          <p:nvPr/>
        </p:nvSpPr>
        <p:spPr>
          <a:xfrm>
            <a:off x="18288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548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Frontend &amp; Web Fundamentals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34640" y="1896923"/>
            <a:ext cx="5989320" cy="43667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Peer code review sessions with the team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Learned HTML, CSS, JavaScript, jQuery for interactive UI and CRUD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Studied Cookies &amp; Sessions in real-world web apps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Introduced to MVC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89720" y="1737360"/>
            <a:ext cx="2331720" cy="4206240"/>
          </a:xfrm>
          <a:prstGeom prst="roundRect">
            <a:avLst>
              <a:gd name="adj" fmla="val 4706"/>
            </a:avLst>
          </a:prstGeom>
          <a:solidFill>
            <a:srgbClr val="F4F6FB"/>
          </a:solidFill>
        </p:spPr>
      </p:sp>
      <p:sp>
        <p:nvSpPr>
          <p:cNvPr id="8" name="Shape 6"/>
          <p:cNvSpPr/>
          <p:nvPr/>
        </p:nvSpPr>
        <p:spPr>
          <a:xfrm>
            <a:off x="9761220" y="21945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761220" y="219456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36118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4114800"/>
            <a:ext cx="1417320" cy="0"/>
          </a:xfrm>
          <a:prstGeom prst="line">
            <a:avLst/>
          </a:prstGeom>
          <a:noFill/>
          <a:ln w="12700">
            <a:solidFill>
              <a:srgbClr val="C7C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4297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0" y="461772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0" y="5440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E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Completed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4" name="Text 2"/>
          <p:cNvSpPr/>
          <p:nvPr/>
        </p:nvSpPr>
        <p:spPr>
          <a:xfrm>
            <a:off x="18288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548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MVC, AJAX &amp; Blazor Intro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34640" y="1896923"/>
            <a:ext cx="5989320" cy="43667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MVC concepts and pagination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AJAX integration in MVC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HttpClient and RestSharp for API calls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 to Blazor: Blazor CRUD, HttpClientFactory, Utility &amp; Generic classes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89720" y="1737360"/>
            <a:ext cx="2331720" cy="4206240"/>
          </a:xfrm>
          <a:prstGeom prst="roundRect">
            <a:avLst>
              <a:gd name="adj" fmla="val 4706"/>
            </a:avLst>
          </a:prstGeom>
          <a:solidFill>
            <a:srgbClr val="F4F6FB"/>
          </a:solidFill>
        </p:spPr>
      </p:sp>
      <p:sp>
        <p:nvSpPr>
          <p:cNvPr id="8" name="Shape 6"/>
          <p:cNvSpPr/>
          <p:nvPr/>
        </p:nvSpPr>
        <p:spPr>
          <a:xfrm>
            <a:off x="9761220" y="21945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761220" y="219456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36118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4114800"/>
            <a:ext cx="1417320" cy="0"/>
          </a:xfrm>
          <a:prstGeom prst="line">
            <a:avLst/>
          </a:prstGeom>
          <a:noFill/>
          <a:ln w="12700">
            <a:solidFill>
              <a:srgbClr val="C7C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4297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0" y="461772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0" y="5440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E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Completed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4" name="Text 2"/>
          <p:cNvSpPr/>
          <p:nvPr/>
        </p:nvSpPr>
        <p:spPr>
          <a:xfrm>
            <a:off x="18288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WEEKS 6 –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548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Blazor ACE Framework &amp; Group Project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34640" y="1896923"/>
            <a:ext cx="5989320" cy="43667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Studied Blazor ACE Framework architecture, Result Pattern, Firebase integration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Learned authentication, security infrastructure, SDLC (Waterfall vs Agile)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Blazor: parameters, routing, navigation, cascading parameters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Collaborated on the Group Internship Project — backend logic, API endpoints, responsive Blazor UI, integration testing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89720" y="1737360"/>
            <a:ext cx="2331720" cy="4206240"/>
          </a:xfrm>
          <a:prstGeom prst="roundRect">
            <a:avLst>
              <a:gd name="adj" fmla="val 4706"/>
            </a:avLst>
          </a:prstGeom>
          <a:solidFill>
            <a:srgbClr val="F4F6FB"/>
          </a:solidFill>
        </p:spPr>
      </p:sp>
      <p:sp>
        <p:nvSpPr>
          <p:cNvPr id="8" name="Shape 6"/>
          <p:cNvSpPr/>
          <p:nvPr/>
        </p:nvSpPr>
        <p:spPr>
          <a:xfrm>
            <a:off x="9761220" y="21945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761220" y="219456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36118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4114800"/>
            <a:ext cx="1417320" cy="0"/>
          </a:xfrm>
          <a:prstGeom prst="line">
            <a:avLst/>
          </a:prstGeom>
          <a:noFill/>
          <a:ln w="12700">
            <a:solidFill>
              <a:srgbClr val="C7C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4297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0" y="461772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Weeks 6 – 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0" y="5440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E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Completed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4" name="Text 2"/>
          <p:cNvSpPr/>
          <p:nvPr/>
        </p:nvSpPr>
        <p:spPr>
          <a:xfrm>
            <a:off x="18288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548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Presentation &amp; Security (RBAC)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34640" y="2143354"/>
            <a:ext cx="5989320" cy="41202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Delivered project presentation to seniors and evaluators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Refactored code based on feedback; submitted modification report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Studied and implemented Static &amp; Dynamic Role-Based Access Control (RBAC) in ASP.NET Core Web API and MVC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89720" y="1737360"/>
            <a:ext cx="2331720" cy="4206240"/>
          </a:xfrm>
          <a:prstGeom prst="roundRect">
            <a:avLst>
              <a:gd name="adj" fmla="val 4706"/>
            </a:avLst>
          </a:prstGeom>
          <a:solidFill>
            <a:srgbClr val="F4F6FB"/>
          </a:solidFill>
        </p:spPr>
      </p:sp>
      <p:sp>
        <p:nvSpPr>
          <p:cNvPr id="8" name="Shape 6"/>
          <p:cNvSpPr/>
          <p:nvPr/>
        </p:nvSpPr>
        <p:spPr>
          <a:xfrm>
            <a:off x="9761220" y="21945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761220" y="219456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36118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4114800"/>
            <a:ext cx="1417320" cy="0"/>
          </a:xfrm>
          <a:prstGeom prst="line">
            <a:avLst/>
          </a:prstGeom>
          <a:noFill/>
          <a:ln w="12700">
            <a:solidFill>
              <a:srgbClr val="C7C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4297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0" y="461772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0" y="5440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E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Completed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4" name="Text 2"/>
          <p:cNvSpPr/>
          <p:nvPr/>
        </p:nvSpPr>
        <p:spPr>
          <a:xfrm>
            <a:off x="18288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 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548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Framework Refinement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34640" y="2143354"/>
            <a:ext cx="5989320" cy="412028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Debugged and enhanced the ACE Framework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alignment discussions on architecture standards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Optimized backend data flows and completed end-to-end testing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89720" y="1737360"/>
            <a:ext cx="2331720" cy="4206240"/>
          </a:xfrm>
          <a:prstGeom prst="roundRect">
            <a:avLst>
              <a:gd name="adj" fmla="val 4706"/>
            </a:avLst>
          </a:prstGeom>
          <a:solidFill>
            <a:srgbClr val="F4F6FB"/>
          </a:solidFill>
        </p:spPr>
      </p:sp>
      <p:sp>
        <p:nvSpPr>
          <p:cNvPr id="8" name="Shape 6"/>
          <p:cNvSpPr/>
          <p:nvPr/>
        </p:nvSpPr>
        <p:spPr>
          <a:xfrm>
            <a:off x="9761220" y="21945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761220" y="219456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36118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4114800"/>
            <a:ext cx="1417320" cy="0"/>
          </a:xfrm>
          <a:prstGeom prst="line">
            <a:avLst/>
          </a:prstGeom>
          <a:noFill/>
          <a:ln w="12700">
            <a:solidFill>
              <a:srgbClr val="C7C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4297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0" y="461772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 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0" y="5440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E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Completed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5" name="Text 3"/>
          <p:cNvSpPr/>
          <p:nvPr/>
        </p:nvSpPr>
        <p:spPr>
          <a:xfrm>
            <a:off x="2834640" y="548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Authentication Request Flow Through Kong Gateway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34" charset="0"/>
              <a:cs typeface="Cambria" panose="02040503050406030204" pitchFamily="34" charset="0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2834640" y="1650492"/>
            <a:ext cx="5989320" cy="4613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0"/>
              </a:spcAft>
              <a:buSzPct val="100000"/>
              <a:buChar char="●"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89720" y="1737360"/>
            <a:ext cx="2331720" cy="4206240"/>
          </a:xfrm>
          <a:prstGeom prst="roundRect">
            <a:avLst>
              <a:gd name="adj" fmla="val 4706"/>
            </a:avLst>
          </a:prstGeom>
          <a:solidFill>
            <a:srgbClr val="F4F6FB"/>
          </a:solidFill>
        </p:spPr>
      </p:sp>
      <p:sp>
        <p:nvSpPr>
          <p:cNvPr id="8" name="Shape 6"/>
          <p:cNvSpPr/>
          <p:nvPr/>
        </p:nvSpPr>
        <p:spPr>
          <a:xfrm>
            <a:off x="9761220" y="21945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761220" y="219456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36118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4114800"/>
            <a:ext cx="1417320" cy="0"/>
          </a:xfrm>
          <a:prstGeom prst="line">
            <a:avLst/>
          </a:prstGeom>
          <a:noFill/>
          <a:ln w="12700">
            <a:solidFill>
              <a:srgbClr val="C7C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4297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0" y="461772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Weeks 12 – 13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0" y="5440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E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Completed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Text Box 16"/>
          <p:cNvSpPr txBox="1"/>
          <p:nvPr/>
        </p:nvSpPr>
        <p:spPr>
          <a:xfrm>
            <a:off x="3048000" y="31064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br>
              <a:rPr lang="en-US" dirty="0">
                <a:sym typeface="+mn-ea"/>
              </a:rPr>
            </a:br>
            <a:endParaRPr lang="en-US" dirty="0"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048000" y="1243330"/>
            <a:ext cx="6096000" cy="472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Client</a:t>
            </a: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│</a:t>
            </a: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▼</a:t>
            </a: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https://localhost:8000/v1/gateway/pay</a:t>
            </a: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│</a:t>
            </a: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▼</a:t>
            </a: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Kong</a:t>
            </a: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│</a:t>
            </a: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▼</a:t>
            </a: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b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</a:br>
            <a:r>
              <a:rPr lang="en-US" dirty="0"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https://localhost:5283/api/payment/pay</a:t>
            </a:r>
            <a:endParaRPr lang="en-US" dirty="0">
              <a:latin typeface="Cambria" panose="02040503050406030204" pitchFamily="34" charset="0"/>
              <a:cs typeface="Cambria" panose="02040503050406030204" pitchFamily="34" charset="0"/>
              <a:sym typeface="+mn-ea"/>
            </a:endParaRPr>
          </a:p>
        </p:txBody>
      </p:sp>
      <p:sp>
        <p:nvSpPr>
          <p:cNvPr id="19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0" name="Text 2"/>
          <p:cNvSpPr/>
          <p:nvPr/>
        </p:nvSpPr>
        <p:spPr>
          <a:xfrm>
            <a:off x="18288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WEEKS 10 – 11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5" name="Text 3"/>
          <p:cNvSpPr/>
          <p:nvPr/>
        </p:nvSpPr>
        <p:spPr>
          <a:xfrm>
            <a:off x="2559050" y="548640"/>
            <a:ext cx="905383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kong.yml — services &amp; routes for this app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2834640" y="1650492"/>
            <a:ext cx="5989320" cy="4613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0"/>
              </a:spcAft>
              <a:buSzPct val="100000"/>
              <a:buChar char="●"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89720" y="1737360"/>
            <a:ext cx="2331720" cy="4206240"/>
          </a:xfrm>
          <a:prstGeom prst="roundRect">
            <a:avLst>
              <a:gd name="adj" fmla="val 4706"/>
            </a:avLst>
          </a:prstGeom>
          <a:solidFill>
            <a:srgbClr val="F4F6FB"/>
          </a:solidFill>
        </p:spPr>
      </p:sp>
      <p:sp>
        <p:nvSpPr>
          <p:cNvPr id="8" name="Shape 6"/>
          <p:cNvSpPr/>
          <p:nvPr/>
        </p:nvSpPr>
        <p:spPr>
          <a:xfrm>
            <a:off x="9761220" y="21945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761220" y="219456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36118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4114800"/>
            <a:ext cx="1417320" cy="0"/>
          </a:xfrm>
          <a:prstGeom prst="line">
            <a:avLst/>
          </a:prstGeom>
          <a:noFill/>
          <a:ln w="12700">
            <a:solidFill>
              <a:srgbClr val="C7C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4297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0" y="461772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Weeks 12 – 13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0" y="5440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E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Completed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Text Box 16"/>
          <p:cNvSpPr txBox="1"/>
          <p:nvPr/>
        </p:nvSpPr>
        <p:spPr>
          <a:xfrm>
            <a:off x="3048000" y="31064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br>
              <a:rPr lang="en-US" dirty="0">
                <a:sym typeface="+mn-ea"/>
              </a:rPr>
            </a:br>
            <a:endParaRPr lang="en-US" dirty="0"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048000" y="1243330"/>
            <a:ext cx="6096000" cy="472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endParaRPr lang="en-US" dirty="0">
              <a:latin typeface="Cambria" panose="02040503050406030204" pitchFamily="34" charset="0"/>
              <a:cs typeface="Cambria" panose="02040503050406030204" pitchFamily="34" charset="0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558415" y="1551940"/>
            <a:ext cx="6585585" cy="4820920"/>
          </a:xfrm>
          <a:prstGeom prst="rect">
            <a:avLst/>
          </a:prstGeom>
        </p:spPr>
        <p:style>
          <a:lnRef idx="0">
            <a:srgbClr val="FFFFFF"/>
          </a:lnRef>
          <a:fillRef idx="1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p>
            <a:r>
              <a:rPr lang="en-US" sz="16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_</a:t>
            </a:r>
            <a:r>
              <a:rPr lang="en-US" sz="1600" dirty="0" err="1">
                <a:solidFill>
                  <a:srgbClr val="D4D4D4"/>
                </a:solidFill>
                <a:latin typeface="Cambria" panose="02040503050406030204" pitchFamily="34" charset="0"/>
                <a:ea typeface="Consolas" panose="020B0609020204030204" pitchFamily="34" charset="-122"/>
                <a:cs typeface="Cambria" panose="02040503050406030204" pitchFamily="34" charset="0"/>
                <a:sym typeface="+mn-ea"/>
              </a:rPr>
              <a:t>format_version</a:t>
            </a:r>
            <a:r>
              <a:rPr lang="en-US" sz="1600" dirty="0">
                <a:solidFill>
                  <a:srgbClr val="D4D4D4"/>
                </a:solidFill>
                <a:latin typeface="Cambria" panose="02040503050406030204" pitchFamily="34" charset="0"/>
                <a:ea typeface="Consolas" panose="020B0609020204030204" pitchFamily="34" charset="-122"/>
                <a:cs typeface="Cambria" panose="02040503050406030204" pitchFamily="34" charset="0"/>
                <a:sym typeface="+mn-ea"/>
              </a:rPr>
              <a:t>: "3.0"
services:
  - name: payment-service
      # Internal Backend API
      url: http://localhost:5283/api/payment
      routes:
        - name: payment-route
            paths: [/v1/service]
            </a:t>
            </a:r>
            <a:r>
              <a:rPr lang="en-US" sz="1600" dirty="0" err="1">
                <a:solidFill>
                  <a:srgbClr val="D4D4D4"/>
                </a:solidFill>
                <a:latin typeface="Cambria" panose="02040503050406030204" pitchFamily="34" charset="0"/>
                <a:ea typeface="Consolas" panose="020B0609020204030204" pitchFamily="34" charset="-122"/>
                <a:cs typeface="Cambria" panose="02040503050406030204" pitchFamily="34" charset="0"/>
                <a:sym typeface="+mn-ea"/>
              </a:rPr>
              <a:t>strip_path</a:t>
            </a:r>
            <a:r>
              <a:rPr lang="en-US" sz="1600" dirty="0">
                <a:solidFill>
                  <a:srgbClr val="D4D4D4"/>
                </a:solidFill>
                <a:latin typeface="Cambria" panose="02040503050406030204" pitchFamily="34" charset="0"/>
                <a:ea typeface="Consolas" panose="020B0609020204030204" pitchFamily="34" charset="-122"/>
                <a:cs typeface="Cambria" panose="02040503050406030204" pitchFamily="34" charset="0"/>
                <a:sym typeface="+mn-ea"/>
              </a:rPr>
              <a:t>: true
  - name: </a:t>
            </a:r>
            <a:r>
              <a:rPr lang="en-US" sz="1600" dirty="0" err="1">
                <a:solidFill>
                  <a:srgbClr val="D4D4D4"/>
                </a:solidFill>
                <a:latin typeface="Cambria" panose="02040503050406030204" pitchFamily="34" charset="0"/>
                <a:ea typeface="Consolas" panose="020B0609020204030204" pitchFamily="34" charset="-122"/>
                <a:cs typeface="Cambria" panose="02040503050406030204" pitchFamily="34" charset="0"/>
                <a:sym typeface="+mn-ea"/>
              </a:rPr>
              <a:t>pg</a:t>
            </a:r>
            <a:r>
              <a:rPr lang="en-US" sz="1600" dirty="0">
                <a:solidFill>
                  <a:srgbClr val="D4D4D4"/>
                </a:solidFill>
                <a:latin typeface="Cambria" panose="02040503050406030204" pitchFamily="34" charset="0"/>
                <a:ea typeface="Consolas" panose="020B0609020204030204" pitchFamily="34" charset="-122"/>
                <a:cs typeface="Cambria" panose="02040503050406030204" pitchFamily="34" charset="0"/>
                <a:sym typeface="+mn-ea"/>
              </a:rPr>
              <a:t>-service
      url: http://localhost:5283/api/Pg
      routes:
        - name: </a:t>
            </a:r>
            <a:r>
              <a:rPr lang="en-US" sz="1600" dirty="0" err="1">
                <a:solidFill>
                  <a:srgbClr val="D4D4D4"/>
                </a:solidFill>
                <a:latin typeface="Cambria" panose="02040503050406030204" pitchFamily="34" charset="0"/>
                <a:ea typeface="Consolas" panose="020B0609020204030204" pitchFamily="34" charset="-122"/>
                <a:cs typeface="Cambria" panose="02040503050406030204" pitchFamily="34" charset="0"/>
                <a:sym typeface="+mn-ea"/>
              </a:rPr>
              <a:t>pg</a:t>
            </a:r>
            <a:r>
              <a:rPr lang="en-US" sz="1600" dirty="0">
                <a:solidFill>
                  <a:srgbClr val="D4D4D4"/>
                </a:solidFill>
                <a:latin typeface="Cambria" panose="02040503050406030204" pitchFamily="34" charset="0"/>
                <a:ea typeface="Consolas" panose="020B0609020204030204" pitchFamily="34" charset="-122"/>
                <a:cs typeface="Cambria" panose="02040503050406030204" pitchFamily="34" charset="0"/>
                <a:sym typeface="+mn-ea"/>
              </a:rPr>
              <a:t>-route
            paths: [/v2/service]
            </a:t>
            </a:r>
            <a:r>
              <a:rPr lang="en-US" sz="1600" dirty="0" err="1">
                <a:solidFill>
                  <a:srgbClr val="D4D4D4"/>
                </a:solidFill>
                <a:latin typeface="Cambria" panose="02040503050406030204" pitchFamily="34" charset="0"/>
                <a:ea typeface="Consolas" panose="020B0609020204030204" pitchFamily="34" charset="-122"/>
                <a:cs typeface="Cambria" panose="02040503050406030204" pitchFamily="34" charset="0"/>
                <a:sym typeface="+mn-ea"/>
              </a:rPr>
              <a:t>strip_path</a:t>
            </a:r>
            <a:r>
              <a:rPr lang="en-US" sz="1600" dirty="0">
                <a:solidFill>
                  <a:srgbClr val="D4D4D4"/>
                </a:solidFill>
                <a:latin typeface="Cambria" panose="02040503050406030204" pitchFamily="34" charset="0"/>
                <a:ea typeface="Consolas" panose="020B0609020204030204" pitchFamily="34" charset="-122"/>
                <a:cs typeface="Cambria" panose="02040503050406030204" pitchFamily="34" charset="0"/>
                <a:sym typeface="+mn-ea"/>
              </a:rPr>
              <a:t>: true</a:t>
            </a:r>
            <a:endParaRPr lang="en-US" sz="1600" dirty="0">
              <a:solidFill>
                <a:srgbClr val="D4D4D4"/>
              </a:solidFill>
              <a:latin typeface="Cambria" panose="02040503050406030204" pitchFamily="34" charset="0"/>
              <a:ea typeface="Consolas" panose="020B0609020204030204" pitchFamily="34" charset="-122"/>
              <a:cs typeface="Cambria" panose="02040503050406030204" pitchFamily="34" charset="0"/>
              <a:sym typeface="+mn-ea"/>
            </a:endParaRPr>
          </a:p>
        </p:txBody>
      </p:sp>
      <p:sp>
        <p:nvSpPr>
          <p:cNvPr id="23" name="Text 2"/>
          <p:cNvSpPr/>
          <p:nvPr/>
        </p:nvSpPr>
        <p:spPr>
          <a:xfrm>
            <a:off x="320040" y="3107055"/>
            <a:ext cx="2011680" cy="694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WEEKS 10 – 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5" name="Text 3"/>
          <p:cNvSpPr/>
          <p:nvPr/>
        </p:nvSpPr>
        <p:spPr>
          <a:xfrm>
            <a:off x="2834640" y="548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b="1" dirty="0">
              <a:latin typeface="Cambria" panose="02040503050406030204" pitchFamily="34" charset="0"/>
              <a:cs typeface="Cambria" panose="02040503050406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834640" y="1650492"/>
            <a:ext cx="5989320" cy="4613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0"/>
              </a:spcAft>
              <a:buSzPct val="100000"/>
              <a:buChar char="●"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761220" y="21945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761220" y="219456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36118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4114800"/>
            <a:ext cx="1417320" cy="0"/>
          </a:xfrm>
          <a:prstGeom prst="line">
            <a:avLst/>
          </a:prstGeom>
          <a:noFill/>
          <a:ln w="12700">
            <a:solidFill>
              <a:srgbClr val="C7C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4297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0" y="461772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Weeks 12 – 13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Text Box 16"/>
          <p:cNvSpPr txBox="1"/>
          <p:nvPr/>
        </p:nvSpPr>
        <p:spPr>
          <a:xfrm>
            <a:off x="3048000" y="31064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br>
              <a:rPr lang="en-US" dirty="0">
                <a:sym typeface="+mn-ea"/>
              </a:rPr>
            </a:br>
            <a:endParaRPr lang="en-US" dirty="0"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048000" y="1243330"/>
            <a:ext cx="6096000" cy="4724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endParaRPr lang="en-US" dirty="0">
              <a:latin typeface="Cambria" panose="02040503050406030204" pitchFamily="34" charset="0"/>
              <a:cs typeface="Cambria" panose="02040503050406030204" pitchFamily="34" charset="0"/>
              <a:sym typeface="+mn-ea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2558415" y="549910"/>
            <a:ext cx="9633585" cy="81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defRPr sz="2800" b="1">
                <a:solidFill>
                  <a:srgbClr val="1F2937"/>
                </a:solidFill>
                <a:latin typeface="Aptos Display"/>
              </a:defRPr>
            </a:pPr>
            <a:r>
              <a:rPr sz="3000">
                <a:solidFill>
                  <a:schemeClr val="accent1">
                    <a:lumMod val="50000"/>
                  </a:schemeClr>
                </a:solidFill>
                <a:latin typeface="Cambria" panose="02040503050406030204" pitchFamily="34" charset="0"/>
                <a:cs typeface="Cambria" panose="02040503050406030204" pitchFamily="34" charset="0"/>
                <a:sym typeface="+mn-ea"/>
              </a:rPr>
              <a:t>Current Design vs Recommended Design</a:t>
            </a:r>
            <a:endParaRPr lang="en-US" sz="3000">
              <a:solidFill>
                <a:schemeClr val="accent1">
                  <a:lumMod val="50000"/>
                </a:schemeClr>
              </a:solidFill>
              <a:latin typeface="Cambria" panose="02040503050406030204" pitchFamily="34" charset="0"/>
              <a:cs typeface="Cambria" panose="02040503050406030204" pitchFamily="34" charset="0"/>
              <a:sym typeface="+mn-ea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558415" y="1508760"/>
          <a:ext cx="9145905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6755"/>
                <a:gridCol w="4629150"/>
              </a:tblGrid>
              <a:tr h="61976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Current Design</a:t>
                      </a:r>
                      <a:endParaRPr sz="1600" b="1" dirty="0">
                        <a:solidFill>
                          <a:srgbClr val="FFFFFF"/>
                        </a:solidFill>
                        <a:latin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Recommended Design</a:t>
                      </a:r>
                      <a:endParaRPr sz="1600" b="1">
                        <a:solidFill>
                          <a:srgbClr val="FFFFFF"/>
                        </a:solidFill>
                        <a:latin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671195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Client calls PaymentAggregator API directly</a:t>
                      </a:r>
                      <a:endParaRPr sz="1600">
                        <a:solidFill>
                          <a:srgbClr val="1F2937"/>
                        </a:solidFill>
                        <a:latin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Client calls Kong API Gateway</a:t>
                      </a:r>
                      <a:endParaRPr sz="1600">
                        <a:solidFill>
                          <a:srgbClr val="1F2937"/>
                        </a:solidFill>
                        <a:latin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183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Backend API URL is exposed to clients</a:t>
                      </a:r>
                      <a:endParaRPr sz="1600">
                        <a:solidFill>
                          <a:srgbClr val="1F2937"/>
                        </a:solidFill>
                        <a:latin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Backend API URL is hidden behind Kong</a:t>
                      </a:r>
                      <a:endParaRPr sz="1600">
                        <a:solidFill>
                          <a:srgbClr val="1F2937"/>
                        </a:solidFill>
                        <a:latin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1195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JWT validation is performed inside the application</a:t>
                      </a:r>
                      <a:endParaRPr sz="1600">
                        <a:solidFill>
                          <a:srgbClr val="1F2937"/>
                        </a:solidFill>
                        <a:latin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JWT validation is performed by Kong JWT Plugin</a:t>
                      </a:r>
                      <a:endParaRPr sz="1600">
                        <a:solidFill>
                          <a:srgbClr val="1F2937"/>
                        </a:solidFill>
                        <a:latin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No centralized rate limiting or throttling</a:t>
                      </a:r>
                      <a:endParaRPr sz="1600">
                        <a:solidFill>
                          <a:srgbClr val="1F2937"/>
                        </a:solidFill>
                        <a:latin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Kong Rate Limiting Plugin is applied before forwarding requests</a:t>
                      </a:r>
                      <a:endParaRPr sz="1600">
                        <a:solidFill>
                          <a:srgbClr val="1F2937"/>
                        </a:solidFill>
                        <a:latin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71195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All requests are forwarded directly to the backend</a:t>
                      </a:r>
                      <a:endParaRPr sz="1600">
                        <a:solidFill>
                          <a:srgbClr val="1F2937"/>
                        </a:solidFill>
                        <a:latin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1F2937"/>
                          </a:solidFill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Only validated requests are forwarded to the backend</a:t>
                      </a:r>
                      <a:endParaRPr sz="1600" dirty="0">
                        <a:solidFill>
                          <a:srgbClr val="1F2937"/>
                        </a:solidFill>
                        <a:latin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2"/>
          <p:cNvSpPr/>
          <p:nvPr/>
        </p:nvSpPr>
        <p:spPr>
          <a:xfrm>
            <a:off x="18288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WEEKS 12 – 13</a:t>
            </a:r>
            <a:endParaRPr lang="en-US" sz="1400" dirty="0"/>
          </a:p>
        </p:txBody>
      </p:sp>
      <p:sp>
        <p:nvSpPr>
          <p:cNvPr id="23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4" name="Shape 0"/>
          <p:cNvSpPr/>
          <p:nvPr/>
        </p:nvSpPr>
        <p:spPr>
          <a:xfrm>
            <a:off x="52705" y="3063875"/>
            <a:ext cx="2279650" cy="490855"/>
          </a:xfrm>
          <a:prstGeom prst="rect">
            <a:avLst/>
          </a:prstGeom>
          <a:solidFill>
            <a:srgbClr val="1E2761"/>
          </a:solidFill>
        </p:spPr>
        <p:txBody>
          <a:bodyPr/>
          <a:p>
            <a:pPr marL="0" indent="0" algn="ctr">
              <a:buNone/>
            </a:pPr>
            <a:r>
              <a:rPr lang="en-US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WEEKS 10 – 11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4" name="Text 2"/>
          <p:cNvSpPr/>
          <p:nvPr/>
        </p:nvSpPr>
        <p:spPr>
          <a:xfrm>
            <a:off x="18288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WEEKS 10 – 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548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Logging Standardization with Serilog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34640" y="1650492"/>
            <a:ext cx="5989320" cy="4613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Researched industry-standard logging practices to replace plain .txt log files; prepared initial proposal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logging standardization architecture &amp; Serilog structured logging plan; received approval to proceed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Refactored core logging configuration, replacing text log sinks with structured JSON formatting for Serilog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LokiJsonFormatter and RequestContextEnricher to serialize logs into Loki-compatible JSON with trace context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Configured CorrelationIdMiddleware to generate/propagate correlation IDs and trace IDs across API request pipelines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89720" y="1737360"/>
            <a:ext cx="2331720" cy="4206240"/>
          </a:xfrm>
          <a:prstGeom prst="roundRect">
            <a:avLst>
              <a:gd name="adj" fmla="val 4706"/>
            </a:avLst>
          </a:prstGeom>
          <a:solidFill>
            <a:srgbClr val="F4F6FB"/>
          </a:solidFill>
        </p:spPr>
      </p:sp>
      <p:sp>
        <p:nvSpPr>
          <p:cNvPr id="8" name="Shape 6"/>
          <p:cNvSpPr/>
          <p:nvPr/>
        </p:nvSpPr>
        <p:spPr>
          <a:xfrm>
            <a:off x="9761220" y="21945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761220" y="219456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36118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4114800"/>
            <a:ext cx="1417320" cy="0"/>
          </a:xfrm>
          <a:prstGeom prst="line">
            <a:avLst/>
          </a:prstGeom>
          <a:noFill/>
          <a:ln w="12700">
            <a:solidFill>
              <a:srgbClr val="C7C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4297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0" y="461772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Weeks 10 – 11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0" y="5440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E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Completed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-1005840" y="5120640"/>
            <a:ext cx="2926080" cy="29260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4" name="Text 2"/>
          <p:cNvSpPr/>
          <p:nvPr/>
        </p:nvSpPr>
        <p:spPr>
          <a:xfrm>
            <a:off x="182880" y="30632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WEEKS 12 – 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548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Log Masking, Grafana &amp; Finalization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834640" y="1650492"/>
            <a:ext cx="5989320" cy="4613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Implemented LogMaskingHelper to auto-mask sensitive fields (PAN, CVV, passwords, tokens) before writing to JSON logs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SystemLogManager (ActivityLogService &amp; ErrorLogService) to persist activities and exception traces to DB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up Grafana and Loki log aggregation environment; conducted live log visualization tests by trace ID, level, and service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error/exception logging across Payment API endpoints and tested payload masking under heavy load</a:t>
            </a:r>
            <a:endParaRPr lang="en-US" sz="1600" dirty="0"/>
          </a:p>
          <a:p>
            <a:pPr marL="254000" indent="-254000">
              <a:spcAft>
                <a:spcPts val="2000"/>
              </a:spcAft>
              <a:buSzPct val="100000"/>
              <a:buChar char="●"/>
            </a:pPr>
            <a:r>
              <a:rPr lang="en-US" sz="1600" dirty="0">
                <a:solidFill>
                  <a:srgbClr val="2228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Fine-tuned log rolling policies (50MB hourly, 7-day retention), demoed the system, and finalized technical documentation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89720" y="1737360"/>
            <a:ext cx="2331720" cy="4206240"/>
          </a:xfrm>
          <a:prstGeom prst="roundRect">
            <a:avLst>
              <a:gd name="adj" fmla="val 4706"/>
            </a:avLst>
          </a:prstGeom>
          <a:solidFill>
            <a:srgbClr val="F4F6FB"/>
          </a:solidFill>
        </p:spPr>
      </p:sp>
      <p:sp>
        <p:nvSpPr>
          <p:cNvPr id="8" name="Shape 6"/>
          <p:cNvSpPr/>
          <p:nvPr/>
        </p:nvSpPr>
        <p:spPr>
          <a:xfrm>
            <a:off x="9761220" y="2194560"/>
            <a:ext cx="1188720" cy="11887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/>
        </p:nvSpPr>
        <p:spPr>
          <a:xfrm>
            <a:off x="9761220" y="2194560"/>
            <a:ext cx="1188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326880" y="361188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46920" y="4114800"/>
            <a:ext cx="1417320" cy="0"/>
          </a:xfrm>
          <a:prstGeom prst="line">
            <a:avLst/>
          </a:prstGeom>
          <a:noFill/>
          <a:ln w="12700">
            <a:solidFill>
              <a:srgbClr val="C7C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0" y="4297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0" y="461772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Weeks 12 – 13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0" y="54406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E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Completed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Skills Gained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CORE BANKING TO PAYMENT GATEWAY OBSERVABILITY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411480" cy="41148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6" name="Text 4"/>
          <p:cNvSpPr/>
          <p:nvPr/>
        </p:nvSpPr>
        <p:spPr>
          <a:xfrm>
            <a:off x="822960" y="17830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13432"/>
            <a:ext cx="225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79192"/>
            <a:ext cx="225856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C#, .NET 8, ADO.NET, Dapper, Entity Framework Core, ASP.NET Core Web API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60020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783080"/>
            <a:ext cx="411480" cy="41148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11" name="Text 9"/>
          <p:cNvSpPr/>
          <p:nvPr/>
        </p:nvSpPr>
        <p:spPr>
          <a:xfrm>
            <a:off x="3611880" y="17830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2313432"/>
            <a:ext cx="225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679192"/>
            <a:ext cx="225856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HTML, CSS, JavaScript, jQuery, Blazor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783080"/>
            <a:ext cx="411480" cy="41148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16" name="Text 14"/>
          <p:cNvSpPr/>
          <p:nvPr/>
        </p:nvSpPr>
        <p:spPr>
          <a:xfrm>
            <a:off x="6400800" y="17830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313432"/>
            <a:ext cx="225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Domain Knowledge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679192"/>
            <a:ext cx="225856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Banking, Payment Gateway Systems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160020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1783080"/>
            <a:ext cx="411480" cy="41148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21" name="Text 19"/>
          <p:cNvSpPr/>
          <p:nvPr/>
        </p:nvSpPr>
        <p:spPr>
          <a:xfrm>
            <a:off x="9189720" y="17830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89720" y="2313432"/>
            <a:ext cx="225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Structured Logging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89720" y="2679192"/>
            <a:ext cx="225856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Serilog, JSON logging, LokiJsonFormatter, correlation IDs, RequestContextEnricher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675888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3858768"/>
            <a:ext cx="411480" cy="4114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/>
          <p:nvPr/>
        </p:nvSpPr>
        <p:spPr>
          <a:xfrm>
            <a:off x="822960" y="385876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389120"/>
            <a:ext cx="225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 &amp; Monitoring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" y="4754880"/>
            <a:ext cx="225856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 + Loki dashboards, log visualization, load &amp; exception testing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29000" y="3675888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11880" y="3858768"/>
            <a:ext cx="411480" cy="4114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1" name="Text 29"/>
          <p:cNvSpPr/>
          <p:nvPr/>
        </p:nvSpPr>
        <p:spPr>
          <a:xfrm>
            <a:off x="3611880" y="385876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611880" y="4389120"/>
            <a:ext cx="225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611880" y="4754880"/>
            <a:ext cx="225856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Authentication, RBAC (Static &amp; Dynamic), sensitive data masking (PAN, CVV, tokens)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3675888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3858768"/>
            <a:ext cx="411480" cy="4114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4"/>
          <p:cNvSpPr/>
          <p:nvPr/>
        </p:nvSpPr>
        <p:spPr>
          <a:xfrm>
            <a:off x="6400800" y="3858768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0" y="4389120"/>
            <a:ext cx="2258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Soft Skills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00800" y="4754880"/>
            <a:ext cx="2258568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collaboration, code review, technical presentations, live demos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ACE Data Systems Ltd. — Internship Experience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3" name="Shape 1"/>
          <p:cNvSpPr/>
          <p:nvPr/>
        </p:nvSpPr>
        <p:spPr>
          <a:xfrm>
            <a:off x="-1188720" y="4937760"/>
            <a:ext cx="3108960" cy="310896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4" name="Text 2"/>
          <p:cNvSpPr/>
          <p:nvPr/>
        </p:nvSpPr>
        <p:spPr>
          <a:xfrm>
            <a:off x="822960" y="54864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996696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Progressed from foundational banking/domain knowledge to full-stack development and payment gateway systems engineering</a:t>
            </a:r>
            <a:endParaRPr lang="en-US" sz="1650" dirty="0"/>
          </a:p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and implemented a structured JSON logging system with Serilog, Loki, and Grafana for payment gateway observability</a:t>
            </a:r>
            <a:endParaRPr lang="en-US" sz="1650" dirty="0"/>
          </a:p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correlation IDs and automatic masking of sensitive fields to strengthen traceability and security</a:t>
            </a:r>
            <a:endParaRPr lang="en-US" sz="1650" dirty="0"/>
          </a:p>
          <a:p>
            <a:pPr marL="254000" indent="-254000"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Delivered multiple technical presentations and a live project demonstration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525780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A8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7007</Words>
  <Application>WPS Presentation</Application>
  <PresentationFormat>On-screen Show (16:9)</PresentationFormat>
  <Paragraphs>391</Paragraphs>
  <Slides>16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Consolas</vt:lpstr>
      <vt:lpstr>Consolas</vt:lpstr>
      <vt:lpstr>Consolas</vt:lpstr>
      <vt:lpstr>Aptos Display</vt:lpstr>
      <vt:lpstr>Segoe UI Variable Display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Thin Nandar Soe</cp:lastModifiedBy>
  <cp:revision>7</cp:revision>
  <dcterms:created xsi:type="dcterms:W3CDTF">2026-08-04T09:12:00Z</dcterms:created>
  <dcterms:modified xsi:type="dcterms:W3CDTF">2026-08-22T16:13:37Z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EC54E394D5984E518FF7E81ADF2ED7B0_13</vt:lpwstr>
  </property>
</Properties>
</file>